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011680"/>
            <a:ext cx="56692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>
                <a:solidFill>
                  <a:srgbClr val="0F4C5C"/>
                </a:solidFill>
                <a:latin typeface="jf-openhuninn-2.1"/>
              </a:rPr>
              <a:t>幽門螺旋桿菌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5669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2430"/>
                </a:solidFill>
                <a:latin typeface="jf-openhuninn-2.1"/>
              </a:rPr>
              <a:t>您需要知道的事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5669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4C5C68"/>
                </a:solidFill>
                <a:latin typeface="jf-openhuninn-2.1"/>
              </a:rPr>
              <a:t>陽性檢查結果衛教｜高雄榮總家庭醫學部　潘醫師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8F2626"/>
                </a:solidFill>
                <a:latin typeface="jf-openhuninn-2.1"/>
              </a:rPr>
              <a:t>檢查結果：陽性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A2430"/>
                </a:solidFill>
                <a:latin typeface="jf-openhuninn-2.1"/>
              </a:rPr>
              <a:t>胃裡有幽門螺旋桿菌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4C5C68"/>
                </a:solidFill>
                <a:latin typeface="jf-openhuninn-2.1"/>
              </a:rPr>
              <a:t>世界衛生組織列為一級致癌物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C6B48"/>
                </a:solidFill>
                <a:latin typeface="jf-openhuninn-2.1"/>
              </a:rPr>
              <a:t>按時服藥殺菌，風險可大幅下降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4C5C"/>
                </a:solidFill>
                <a:latin typeface="jf-openhuninn-2.1"/>
              </a:rPr>
              <a:t>為什麼要治療？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0"/>
            <a:ext cx="3291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2430"/>
                </a:solidFill>
                <a:latin typeface="jf-openhuninn-2.1"/>
              </a:rPr>
              <a:t>感染不會自己好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5120640"/>
            <a:ext cx="3291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2430"/>
                </a:solidFill>
                <a:latin typeface="jf-openhuninn-2.1"/>
              </a:rPr>
              <a:t>除菌降低胃潰瘍風險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5120640"/>
            <a:ext cx="3291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2430"/>
                </a:solidFill>
                <a:latin typeface="jf-openhuninn-2.1"/>
              </a:rPr>
              <a:t>除菌降低胃癌風險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4C5C"/>
                </a:solidFill>
                <a:latin typeface="jf-openhuninn-2.1"/>
              </a:rPr>
              <a:t>怎麼治療？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531973"/>
            <a:ext cx="3200400" cy="11539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0" b="1">
                <a:solidFill>
                  <a:srgbClr val="0F4C5C"/>
                </a:solidFill>
                <a:latin typeface="jf-openhuninn-2.1"/>
              </a:rPr>
              <a:t>14天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722876"/>
            <a:ext cx="50292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A2430"/>
                </a:solidFill>
                <a:latin typeface="jf-openhuninn-2.1"/>
              </a:rPr>
              <a:t>連續服藥完成療程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89320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4C5C68"/>
                </a:solidFill>
                <a:latin typeface="jf-openhuninn-2.1"/>
              </a:rPr>
              <a:t>醫師會開 2–4 種藥（胃藥＋抗生素），不可自行停藥或減量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4C5C"/>
                </a:solidFill>
                <a:latin typeface="jf-openhuninn-2.1"/>
              </a:rPr>
              <a:t>服藥期間這樣做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0"/>
            <a:ext cx="3474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A2430"/>
                </a:solidFill>
                <a:latin typeface="jf-openhuninn-2.1"/>
              </a:rPr>
              <a:t>開始服藥</a:t>
            </a:r>
          </a:p>
          <a:p>
            <a:pPr algn="ctr"/>
            <a:r>
              <a:rPr sz="1600" b="0">
                <a:solidFill>
                  <a:srgbClr val="1A2430"/>
                </a:solidFill>
                <a:latin typeface="jf-openhuninn-2.1"/>
              </a:rPr>
              <a:t>胃藥餐前30–60分鐘服用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5029200"/>
            <a:ext cx="3474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A2430"/>
                </a:solidFill>
                <a:latin typeface="jf-openhuninn-2.1"/>
              </a:rPr>
              <a:t>服藥期間</a:t>
            </a:r>
          </a:p>
          <a:p>
            <a:pPr algn="ctr"/>
            <a:r>
              <a:rPr sz="1600" b="0">
                <a:solidFill>
                  <a:srgbClr val="1A2430"/>
                </a:solidFill>
                <a:latin typeface="jf-openhuninn-2.1"/>
              </a:rPr>
              <a:t>嚴格禁酒；黑便黑舌屬正常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029200"/>
            <a:ext cx="3474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A2430"/>
                </a:solidFill>
                <a:latin typeface="jf-openhuninn-2.1"/>
              </a:rPr>
              <a:t>吃完藥後</a:t>
            </a:r>
          </a:p>
          <a:p>
            <a:pPr algn="ctr"/>
            <a:r>
              <a:rPr sz="1600" b="0">
                <a:solidFill>
                  <a:srgbClr val="1A2430"/>
                </a:solidFill>
                <a:latin typeface="jf-openhuninn-2.1"/>
              </a:rPr>
              <a:t>四環黴素與牛奶鈣鐵隔開2小時以上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4C5C"/>
                </a:solidFill>
                <a:latin typeface="jf-openhuninn-2.1"/>
              </a:rPr>
              <a:t>最重要的兩件事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297680"/>
            <a:ext cx="393192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A2430"/>
                </a:solidFill>
                <a:latin typeface="jf-openhuninn-2.1"/>
              </a:rPr>
              <a:t>① 服藥期間到停藥後</a:t>
            </a:r>
          </a:p>
          <a:p>
            <a:pPr algn="ctr"/>
            <a:r>
              <a:rPr sz="2000" b="1">
                <a:solidFill>
                  <a:srgbClr val="1A2430"/>
                </a:solidFill>
                <a:latin typeface="jf-openhuninn-2.1"/>
              </a:rPr>
              <a:t>48小時內不能喝酒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4297680"/>
            <a:ext cx="393192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A2430"/>
                </a:solidFill>
                <a:latin typeface="jf-openhuninn-2.1"/>
              </a:rPr>
              <a:t>② 大便、舌頭變黑是鉍劑的</a:t>
            </a:r>
          </a:p>
          <a:p>
            <a:pPr algn="ctr"/>
            <a:r>
              <a:rPr sz="2000" b="1">
                <a:solidFill>
                  <a:srgbClr val="1A2430"/>
                </a:solidFill>
                <a:latin typeface="jf-openhuninn-2.1"/>
              </a:rPr>
              <a:t>正常現象，不是出血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2162" y="340156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4C5C"/>
                </a:solidFill>
                <a:latin typeface="jf-openhuninn-2.1"/>
              </a:rPr>
              <a:t>吃完藥之後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0"/>
            <a:ext cx="7772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2430"/>
                </a:solidFill>
                <a:latin typeface="jf-openhuninn-2.1"/>
              </a:rPr>
              <a:t>滿一個月回診複檢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200400"/>
            <a:ext cx="7772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2430"/>
                </a:solidFill>
                <a:latin typeface="jf-openhuninn-2.1"/>
              </a:rPr>
              <a:t>做吹氣（碳13呼氣）或糞便檢查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5029200"/>
            <a:ext cx="7772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8F2626"/>
                </a:solidFill>
                <a:latin typeface="jf-openhuninn-2.1"/>
              </a:rPr>
              <a:t>不要用抽血驗抗體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2883" y="622706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4C5C"/>
                </a:solidFill>
                <a:latin typeface="jf-openhuninn-2.1"/>
              </a:rPr>
              <a:t>複檢前要注意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349240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4C5C"/>
                </a:solidFill>
                <a:latin typeface="jf-openhuninn-2.1"/>
              </a:rPr>
              <a:t>PPI胃藥要停2週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5349240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4C5C"/>
                </a:solidFill>
                <a:latin typeface="jf-openhuninn-2.1"/>
              </a:rPr>
              <a:t>抗生素與鉍劑要停4週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322161"/>
            <a:ext cx="9966960" cy="430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4C5C68"/>
                </a:solidFill>
                <a:latin typeface="jf-openhuninn-2.1"/>
              </a:rPr>
              <a:t>太早複檢會驗出「假陰性」，等於白吃一輪藥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8856" y="22860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jf-openhuninn-2.1"/>
              </a:rPr>
              <a:t>家人要一起檢查嗎？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017520"/>
            <a:ext cx="4114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2430"/>
                </a:solidFill>
                <a:latin typeface="jf-openhuninn-2.1"/>
              </a:rPr>
              <a:t>會傳染，尤其是小孩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926080"/>
            <a:ext cx="4114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C6B48"/>
                </a:solidFill>
                <a:latin typeface="jf-openhuninn-2.1"/>
              </a:rPr>
              <a:t>45–74歲家人可終身一次</a:t>
            </a:r>
          </a:p>
          <a:p>
            <a:pPr algn="ctr"/>
            <a:r>
              <a:rPr sz="1500" b="1">
                <a:solidFill>
                  <a:srgbClr val="1C6B48"/>
                </a:solidFill>
                <a:latin typeface="jf-openhuninn-2.1"/>
              </a:rPr>
              <a:t>免費糞便篩檢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6126480"/>
            <a:ext cx="4114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A2430"/>
                </a:solidFill>
                <a:latin typeface="jf-openhuninn-2.1"/>
              </a:rPr>
              <a:t>使用公筷母匙</a:t>
            </a:r>
          </a:p>
          <a:p>
            <a:pPr algn="ctr"/>
            <a:r>
              <a:rPr sz="1500" b="0">
                <a:solidFill>
                  <a:srgbClr val="1A2430"/>
                </a:solidFill>
                <a:latin typeface="jf-openhuninn-2.1"/>
              </a:rPr>
              <a:t>不共用餐具牙刷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6217920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A2430"/>
                </a:solidFill>
                <a:latin typeface="jf-openhuninn-2.1"/>
              </a:rPr>
              <a:t>不要嚼食物餵小孩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4244" y="309981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4C5C"/>
                </a:solidFill>
                <a:latin typeface="jf-openhuninn-2.1"/>
              </a:rPr>
              <a:t>常見疑問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92047"/>
            <a:ext cx="2834640" cy="6153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4C5C"/>
                </a:solidFill>
                <a:latin typeface="jf-openhuninn-2.1"/>
              </a:rPr>
              <a:t>沒有不舒服</a:t>
            </a:r>
          </a:p>
          <a:p>
            <a:pPr algn="ctr"/>
            <a:r>
              <a:rPr sz="2000" b="1">
                <a:solidFill>
                  <a:srgbClr val="0F4C5C"/>
                </a:solidFill>
                <a:latin typeface="jf-openhuninn-2.1"/>
              </a:rPr>
              <a:t>也要治療嗎？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675327"/>
            <a:ext cx="2834640" cy="6153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4C5C"/>
                </a:solidFill>
                <a:latin typeface="jf-openhuninn-2.1"/>
              </a:rPr>
              <a:t>建議治療，除菌可</a:t>
            </a:r>
          </a:p>
          <a:p>
            <a:pPr algn="ctr"/>
            <a:r>
              <a:rPr sz="2000" b="1">
                <a:solidFill>
                  <a:srgbClr val="0F4C5C"/>
                </a:solidFill>
                <a:latin typeface="jf-openhuninn-2.1"/>
              </a:rPr>
              <a:t>降低胃癌風險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92047"/>
            <a:ext cx="2743200" cy="6153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4C5C"/>
                </a:solidFill>
                <a:latin typeface="jf-openhuninn-2.1"/>
              </a:rPr>
              <a:t>治療會很</a:t>
            </a:r>
          </a:p>
          <a:p>
            <a:pPr algn="ctr"/>
            <a:r>
              <a:rPr sz="2000" b="1">
                <a:solidFill>
                  <a:srgbClr val="0F4C5C"/>
                </a:solidFill>
                <a:latin typeface="jf-openhuninn-2.1"/>
              </a:rPr>
              <a:t>痛苦嗎？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475988"/>
            <a:ext cx="2743200" cy="923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4C5C"/>
                </a:solidFill>
                <a:latin typeface="jf-openhuninn-2.1"/>
              </a:rPr>
              <a:t>多數人可忍受；嚴重</a:t>
            </a:r>
          </a:p>
          <a:p>
            <a:pPr algn="ctr"/>
            <a:r>
              <a:rPr sz="2000" b="1">
                <a:solidFill>
                  <a:srgbClr val="0F4C5C"/>
                </a:solidFill>
                <a:latin typeface="jf-openhuninn-2.1"/>
              </a:rPr>
              <a:t>紅疹或呼吸困難</a:t>
            </a:r>
          </a:p>
          <a:p>
            <a:pPr algn="ctr"/>
            <a:r>
              <a:rPr sz="2000" b="1">
                <a:solidFill>
                  <a:srgbClr val="0F4C5C"/>
                </a:solidFill>
                <a:latin typeface="jf-openhuninn-2.1"/>
              </a:rPr>
              <a:t>請立即就醫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292047"/>
            <a:ext cx="2834640" cy="6153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4C5C"/>
                </a:solidFill>
                <a:latin typeface="jf-openhuninn-2.1"/>
              </a:rPr>
              <a:t>殺乾淨了還會</a:t>
            </a:r>
          </a:p>
          <a:p>
            <a:pPr algn="ctr"/>
            <a:r>
              <a:rPr sz="2000" b="1">
                <a:solidFill>
                  <a:srgbClr val="0F4C5C"/>
                </a:solidFill>
                <a:latin typeface="jf-openhuninn-2.1"/>
              </a:rPr>
              <a:t>再感染嗎？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675327"/>
            <a:ext cx="2834640" cy="6153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4C5C"/>
                </a:solidFill>
                <a:latin typeface="jf-openhuninn-2.1"/>
              </a:rPr>
              <a:t>再感染機率</a:t>
            </a:r>
          </a:p>
          <a:p>
            <a:pPr algn="ctr"/>
            <a:r>
              <a:rPr sz="2000" b="1">
                <a:solidFill>
                  <a:srgbClr val="0F4C5C"/>
                </a:solidFill>
                <a:latin typeface="jf-openhuninn-2.1"/>
              </a:rPr>
              <a:t>約1%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1C6B48"/>
                </a:solidFill>
                <a:latin typeface="jf-openhuninn-2.1"/>
              </a:rPr>
              <a:t>帶走這三句話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572000"/>
            <a:ext cx="9784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2430"/>
                </a:solidFill>
                <a:latin typeface="jf-openhuninn-2.1"/>
              </a:rPr>
              <a:t>① 按時吃完藥，服藥期間及停藥後48小時不喝酒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120640"/>
            <a:ext cx="9784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2430"/>
                </a:solidFill>
                <a:latin typeface="jf-openhuninn-2.1"/>
              </a:rPr>
              <a:t>② 吃完藥滿一個月回來複檢；複檢前胃藥停2週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669280"/>
            <a:ext cx="9784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2430"/>
                </a:solidFill>
                <a:latin typeface="jf-openhuninn-2.1"/>
              </a:rPr>
              <a:t>③ 家人先篩檢、陽性再治療，用公筷母匙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4C5C68"/>
                </a:solidFill>
                <a:latin typeface="jf-openhuninn-2.1"/>
              </a:rPr>
              <a:t>資料來源：健保署、國健署公告｜查證日 2026-08-09｜僅供衛教參考，不能取代醫師診斷｜資料整理：高雄榮總家庭醫學部　潘醫師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